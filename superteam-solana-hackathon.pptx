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uperteam.ar/colosseum" TargetMode="External"/><Relationship Id="rId4" Type="http://schemas.openxmlformats.org/officeDocument/2006/relationships/hyperlink" Target="https://arena.colosseum.org" TargetMode="External"/><Relationship Id="rId5" Type="http://schemas.openxmlformats.org/officeDocument/2006/relationships/hyperlink" Target="https://colosseum.com/arena/projects/explore" TargetMode="External"/><Relationship Id="rId6" Type="http://schemas.openxmlformats.org/officeDocument/2006/relationships/hyperlink" Target="https://colosseum.com/copilot" TargetMode="External"/><Relationship Id="rId7" Type="http://schemas.openxmlformats.org/officeDocument/2006/relationships/hyperlink" Target="https://superteam.ar/stack" TargetMode="External"/><Relationship Id="rId8" Type="http://schemas.openxmlformats.org/officeDocument/2006/relationships/hyperlink" Target="https://t.me/superteamar" TargetMode="External"/><Relationship Id="rId9" Type="http://schemas.openxmlformats.org/officeDocument/2006/relationships/hyperlink" Target="https://solana.com/docs" TargetMode="External"/><Relationship Id="rId10" Type="http://schemas.openxmlformats.org/officeDocument/2006/relationships/hyperlink" Target="https://solana.com/docs/intro/quick-start" TargetMode="External"/><Relationship Id="rId11" Type="http://schemas.openxmlformats.org/officeDocument/2006/relationships/hyperlink" Target="https://solana.com/docs/intro/installation" TargetMode="External"/><Relationship Id="rId12" Type="http://schemas.openxmlformats.org/officeDocument/2006/relationships/hyperlink" Target="https://solana.com/docs/intro/coding-with-agents" TargetMode="External"/><Relationship Id="rId13" Type="http://schemas.openxmlformats.org/officeDocument/2006/relationships/hyperlink" Target="https://github.com/solana-foundation/solana-dev-skill" TargetMode="External"/><Relationship Id="rId14" Type="http://schemas.openxmlformats.org/officeDocument/2006/relationships/hyperlink" Target="https://opencode.ai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74980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spc="500">
                <a:solidFill>
                  <a:srgbClr val="8B8FE8"/>
                </a:solidFill>
                <a:latin typeface="JetBrains Mono"/>
              </a:rPr>
              <a:t>ROAD TO COLOSSEUM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7863840" cy="2926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600" b="1">
                <a:solidFill>
                  <a:srgbClr val="FFFFFF"/>
                </a:solidFill>
                <a:latin typeface="JetBrains Mono"/>
              </a:rPr>
              <a:t>SUPERTEAM</a:t>
            </a:r>
          </a:p>
          <a:p>
            <a:pPr algn="l">
              <a:lnSpc>
                <a:spcPct val="95000"/>
              </a:lnSpc>
            </a:pPr>
            <a:r>
              <a:rPr sz="6600" b="1">
                <a:solidFill>
                  <a:srgbClr val="FFFFFF"/>
                </a:solidFill>
                <a:latin typeface="JetBrains Mono"/>
              </a:rPr>
              <a:t>ARGENTINA</a:t>
            </a:r>
          </a:p>
          <a:p>
            <a:pPr algn="l">
              <a:lnSpc>
                <a:spcPct val="95000"/>
              </a:lnSpc>
            </a:pPr>
            <a:r>
              <a:rPr sz="6600" b="1">
                <a:solidFill>
                  <a:srgbClr val="FFFFFF"/>
                </a:solidFill>
                <a:latin typeface="JetBrains Mono"/>
              </a:rPr>
              <a:t>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2793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 spc="200">
                <a:solidFill>
                  <a:srgbClr val="F5E04A"/>
                </a:solidFill>
                <a:latin typeface="JetBrains Mono"/>
              </a:rPr>
              <a:t>3 OCT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46320"/>
            <a:ext cx="4937760" cy="1188720"/>
          </a:xfrm>
          <a:prstGeom prst="roundRect">
            <a:avLst>
              <a:gd name="adj" fmla="val 12307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4992624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500" b="1" spc="150">
                <a:solidFill>
                  <a:srgbClr val="0E1320"/>
                </a:solidFill>
                <a:latin typeface="JetBrains Mono"/>
              </a:rPr>
              <a:t>TRACK LOCAL</a:t>
            </a:r>
          </a:p>
          <a:p>
            <a:pPr algn="l"/>
            <a:r>
              <a:rPr sz="3800" b="1">
                <a:solidFill>
                  <a:srgbClr val="0E1320"/>
                </a:solidFill>
                <a:latin typeface="JetBrains Mono"/>
              </a:rPr>
              <a:t>10.000 USD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spc="200">
                <a:solidFill>
                  <a:srgbClr val="8B8FE8"/>
                </a:solidFill>
                <a:latin typeface="JetBrains Mono"/>
              </a:rPr>
              <a:t>PRESENTA</a:t>
            </a:r>
          </a:p>
          <a:p>
            <a:pPr algn="l"/>
            <a:r>
              <a:rPr sz="1200" b="0" spc="200">
                <a:solidFill>
                  <a:srgbClr val="8B8FE8"/>
                </a:solidFill>
                <a:latin typeface="JetBrains Mono"/>
              </a:rPr>
              <a:t>AGUSTÍN JUÁREZ</a:t>
            </a:r>
          </a:p>
        </p:txBody>
      </p:sp>
      <p:pic>
        <p:nvPicPr>
          <p:cNvPr id="9" name="Picture 8" descr="l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914" y="658368"/>
            <a:ext cx="383352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01 · SOLANA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¿QUÉ ES SOLANA?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02/15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C9CEE0"/>
                </a:solidFill>
                <a:latin typeface="JetBrains Mono"/>
              </a:rPr>
              <a:t>Una infraestructura pública programable: una blockchain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C9CEE0"/>
                </a:solidFill>
                <a:latin typeface="JetBrains Mono"/>
              </a:rPr>
              <a:t>abierta (capa 1) cuyo token nativo es SOL.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80360"/>
            <a:ext cx="3493008" cy="1965960"/>
          </a:xfrm>
          <a:prstGeom prst="roundRect">
            <a:avLst>
              <a:gd name="adj" fmla="val 558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6968" y="3081528"/>
            <a:ext cx="3090672" cy="1563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MOVER VALOR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CEE0"/>
                </a:solidFill>
                <a:latin typeface="JetBrains Mono"/>
              </a:rPr>
              <a:t>Pagos, stablecoins como USDC y settlement entre usuarios, empresas y agentes de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880360"/>
            <a:ext cx="3493008" cy="1965960"/>
          </a:xfrm>
          <a:prstGeom prst="roundRect">
            <a:avLst>
              <a:gd name="adj" fmla="val 558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35424" y="3081528"/>
            <a:ext cx="3090672" cy="1563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REGISTRAR PROPIEDAD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CEE0"/>
                </a:solidFill>
                <a:latin typeface="JetBrains Mono"/>
              </a:rPr>
              <a:t>Información verificable: tokens, activos digitales, credenciales y membresías.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82712" y="2880360"/>
            <a:ext cx="3493008" cy="1965960"/>
          </a:xfrm>
          <a:prstGeom prst="roundRect">
            <a:avLst>
              <a:gd name="adj" fmla="val 558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183880" y="3081528"/>
            <a:ext cx="3090672" cy="1563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LÓGICA ONCHAIN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C9CEE0"/>
                </a:solidFill>
                <a:latin typeface="JetBrains Mono"/>
              </a:rPr>
              <a:t>Reglas que se ejecutan "en cadena" mediante programas, sin depender de un intermediario.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5074920"/>
            <a:ext cx="10789920" cy="960120"/>
          </a:xfrm>
          <a:prstGeom prst="roundRect">
            <a:avLst>
              <a:gd name="adj" fmla="val 13333"/>
            </a:avLst>
          </a:prstGeom>
          <a:noFill/>
          <a:ln w="12700">
            <a:solidFill>
              <a:srgbClr val="8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10332720" cy="9601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C9CEE0"/>
                </a:solidFill>
                <a:latin typeface="JetBrains Mono"/>
              </a:rPr>
              <a:t/>
            </a:r>
            <a:r>
              <a:rPr sz="1500" b="1">
                <a:solidFill>
                  <a:srgbClr val="8B8FE8"/>
                </a:solidFill>
                <a:latin typeface="JetBrains Mono"/>
              </a:rPr>
              <a:t>Tu app = </a:t>
            </a:r>
            <a:r>
              <a:rPr sz="1500" b="0">
                <a:solidFill>
                  <a:srgbClr val="C9CEE0"/>
                </a:solidFill>
                <a:latin typeface="JetBrains Mono"/>
              </a:rPr>
              <a:t>frontend + backend + APIs + base de datos + una parte onchain </a:t>
            </a:r>
            <a:r>
              <a:rPr sz="1500" b="1">
                <a:solidFill>
                  <a:srgbClr val="F5E04A"/>
                </a:solidFill>
                <a:latin typeface="JetBrains Mono"/>
              </a:rPr>
              <a:t>cuando eso mejora realmente el producto.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02 · CONCEPTOS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¿POR QUÉ SOLANA?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03/15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587752" cy="2743200"/>
          </a:xfrm>
          <a:prstGeom prst="roundRect">
            <a:avLst>
              <a:gd name="adj" fmla="val 424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313432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5E04A"/>
                </a:solidFill>
                <a:latin typeface="JetBrains Mono"/>
              </a:rPr>
              <a:t>~400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926080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spc="250">
                <a:solidFill>
                  <a:srgbClr val="8B8FE8"/>
                </a:solidFill>
                <a:latin typeface="JetBrains Mono"/>
              </a:rPr>
              <a:t>POR BLOQUE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355848"/>
            <a:ext cx="222199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Cada "slot" dura ~400 ms: las transacciones se confirman casi al instante.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2057400"/>
            <a:ext cx="2587752" cy="2743200"/>
          </a:xfrm>
          <a:prstGeom prst="roundRect">
            <a:avLst>
              <a:gd name="adj" fmla="val 424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21024" y="2313432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5E04A"/>
                </a:solidFill>
                <a:latin typeface="JetBrains Mono"/>
              </a:rPr>
              <a:t>&lt; US$0,01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926080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spc="250">
                <a:solidFill>
                  <a:srgbClr val="8B8FE8"/>
                </a:solidFill>
                <a:latin typeface="JetBrains Mono"/>
              </a:rPr>
              <a:t>POR TRANSACCIÓN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3355848"/>
            <a:ext cx="222199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Fee base de 5.000 lamports por firma. Ideal para pagos y micropagos.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057400"/>
            <a:ext cx="2587752" cy="2743200"/>
          </a:xfrm>
          <a:prstGeom prst="roundRect">
            <a:avLst>
              <a:gd name="adj" fmla="val 424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2313432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5E04A"/>
                </a:solidFill>
                <a:latin typeface="JetBrains Mono"/>
              </a:rPr>
              <a:t>PoS + PoH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26080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spc="250">
                <a:solidFill>
                  <a:srgbClr val="8B8FE8"/>
                </a:solidFill>
                <a:latin typeface="JetBrains Mono"/>
              </a:rPr>
              <a:t>CONSENSO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355848"/>
            <a:ext cx="222199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Proof of Stake asegura la red; Proof of History es un "reloj" que ordena eventos.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2057400"/>
            <a:ext cx="2587752" cy="2743200"/>
          </a:xfrm>
          <a:prstGeom prst="roundRect">
            <a:avLst>
              <a:gd name="adj" fmla="val 424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9136" y="2313432"/>
            <a:ext cx="222199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800" b="1">
                <a:solidFill>
                  <a:srgbClr val="F5E04A"/>
                </a:solidFill>
                <a:latin typeface="JetBrains Mono"/>
              </a:rPr>
              <a:t>SOL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926080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spc="250">
                <a:solidFill>
                  <a:srgbClr val="8B8FE8"/>
                </a:solidFill>
                <a:latin typeface="JetBrains Mono"/>
              </a:rPr>
              <a:t>TOKEN NATIVO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3355848"/>
            <a:ext cx="2221992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Paga las fees y se usa para staking. 1 SOL = 10⁹ lamports.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66360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C9CEE0"/>
                </a:solidFill>
                <a:latin typeface="JetBrains Mono"/>
              </a:rPr>
              <a:t/>
            </a:r>
            <a:r>
              <a:rPr sz="160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600" b="1">
                <a:solidFill>
                  <a:srgbClr val="FFFFFF"/>
                </a:solidFill>
                <a:latin typeface="JetBrains Mono"/>
              </a:rPr>
              <a:t>Rápida y barata = </a:t>
            </a:r>
            <a:r>
              <a:rPr sz="1600" b="0">
                <a:solidFill>
                  <a:srgbClr val="C9CEE0"/>
                </a:solidFill>
                <a:latin typeface="JetBrains Mono"/>
              </a:rPr>
              <a:t>experiencias que se sienten como una app normal: el usuario no espera ni paga de más por usar blockchain.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03 · BAJO EL CAPÓ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04/15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3493008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3090672" cy="1380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CUENTAS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C9CEE0"/>
                </a:solidFill>
                <a:latin typeface="JetBrains Mono"/>
              </a:rPr>
              <a:t>Todo es una cuenta: guarda datos y SOL. Cada cuenta tiene un programa "dueño".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28800"/>
            <a:ext cx="3493008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5424" y="2029968"/>
            <a:ext cx="3090672" cy="1380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PROGRAMAS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C9CEE0"/>
                </a:solidFill>
                <a:latin typeface="JetBrains Mono"/>
              </a:rPr>
              <a:t>El código onchain (smart contracts). Sin estado propio: leen y escriben cuentas.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2712" y="1828800"/>
            <a:ext cx="3493008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83880" y="2029968"/>
            <a:ext cx="3090672" cy="1380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TRANSACCIONES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C9CEE0"/>
                </a:solidFill>
                <a:latin typeface="JetBrains Mono"/>
              </a:rPr>
              <a:t>Una o más instrucciones firmadas por una wallet. Todo o nada (atómicas).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776472"/>
            <a:ext cx="3493008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977639"/>
            <a:ext cx="3090672" cy="1380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TOKENS SPL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C9CEE0"/>
                </a:solidFill>
                <a:latin typeface="JetBrains Mono"/>
              </a:rPr>
              <a:t>El estándar de tokens: stablecoins como USDC, NFTs, puntos, membresías.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3776472"/>
            <a:ext cx="3493008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35424" y="3977639"/>
            <a:ext cx="3090672" cy="1380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WALLETS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C9CEE0"/>
                </a:solidFill>
                <a:latin typeface="JetBrains Mono"/>
              </a:rPr>
              <a:t>Phantom, Solflare y otras: guardan tus claves y firman transacciones.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3776472"/>
            <a:ext cx="3493008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83880" y="3977639"/>
            <a:ext cx="3090672" cy="1380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5E04A"/>
                </a:solidFill>
                <a:latin typeface="JetBrains Mono"/>
              </a:rPr>
              <a:t>REDES</a:t>
            </a:r>
          </a:p>
          <a:p>
            <a:pPr algn="l">
              <a:lnSpc>
                <a:spcPct val="110000"/>
              </a:lnSpc>
            </a:pPr>
            <a:r>
              <a:rPr sz="1450" b="0">
                <a:solidFill>
                  <a:srgbClr val="C9CEE0"/>
                </a:solidFill>
                <a:latin typeface="JetBrains Mono"/>
              </a:rPr>
              <a:t>Devnet para probar (SOL de prueba gratis). Mainnet para producción.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8B8FE8"/>
                </a:solidFill>
                <a:latin typeface="JetBrains Mono"/>
              </a:rPr>
              <a:t>Programás en Rust (con Anchor) y armás el cliente en TypeScript.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04 · SOLANA EN TU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05/15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JetBrains Mono"/>
              </a:rPr>
              <a:t>“SI SACO SOLANA DEL PRODUCTO,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JetBrains Mono"/>
              </a:rPr>
              <a:t>¿DESAPARECE UNA CAPACIDAD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JetBrains Mono"/>
              </a:rPr>
              <a:t>IMPORTANTE?”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900" b="0">
                <a:solidFill>
                  <a:srgbClr val="C9CEE0"/>
                </a:solidFill>
                <a:latin typeface="JetBrains Mono"/>
              </a:rPr>
              <a:t/>
            </a:r>
            <a:r>
              <a:rPr sz="1900" b="1">
                <a:solidFill>
                  <a:srgbClr val="F5E04A"/>
                </a:solidFill>
                <a:latin typeface="JetBrains Mono"/>
              </a:rPr>
              <a:t>Si la respuesta es no → </a:t>
            </a:r>
            <a:r>
              <a:rPr sz="1900" b="0">
                <a:solidFill>
                  <a:srgbClr val="C9CEE0"/>
                </a:solidFill>
                <a:latin typeface="JetBrains Mono"/>
              </a:rPr>
              <a:t>la integración es decorativa. Repensala.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16052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spc="300">
                <a:solidFill>
                  <a:srgbClr val="8B8FE8"/>
                </a:solidFill>
                <a:latin typeface="JetBrains Mono"/>
              </a:rPr>
              <a:t>SOLANA PUEDE RESOLVER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572000"/>
            <a:ext cx="99060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9906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pagos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04416" y="4572000"/>
            <a:ext cx="152400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04416" y="4572000"/>
            <a:ext cx="15240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settlement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4572000"/>
            <a:ext cx="227076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56432" y="4572000"/>
            <a:ext cx="227076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propiedad digital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5208" y="4572000"/>
            <a:ext cx="312420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55208" y="4572000"/>
            <a:ext cx="31242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credenciales verificables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7424" y="4572000"/>
            <a:ext cx="131064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7424" y="4572000"/>
            <a:ext cx="13106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mercados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138928"/>
            <a:ext cx="152400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5138928"/>
            <a:ext cx="152400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micropagos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7816" y="5138928"/>
            <a:ext cx="280416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337816" y="5138928"/>
            <a:ext cx="280416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coordinación económica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69992" y="5138928"/>
            <a:ext cx="1844040" cy="438912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269992" y="5138928"/>
            <a:ext cx="1844040" cy="4389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>agentes de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>
                <a:solidFill>
                  <a:srgbClr val="6A7294"/>
                </a:solidFill>
                <a:latin typeface="JetBrains Mono"/>
              </a:rPr>
              <a:t>El objetivo no es “meter blockchain”: es un producto con sentido donde Solana resuelve una parte concreta.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05 · BUILD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CÓMO ES LA JORNADA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06/15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572768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PROBLEMA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920240"/>
            <a:ext cx="27066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5E04A"/>
                </a:solidFill>
                <a:latin typeface="JetBrains Mon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9230" y="192024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29230" y="1920240"/>
            <a:ext cx="1572768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USUARIO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CONCRETO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998" y="1920240"/>
            <a:ext cx="27066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5E04A"/>
                </a:solidFill>
                <a:latin typeface="JetBrains Mon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2660" y="192024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72660" y="1920240"/>
            <a:ext cx="1572768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PRODUCTO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ÚTIL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5428" y="1920240"/>
            <a:ext cx="27066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5E04A"/>
                </a:solidFill>
                <a:latin typeface="JetBrains Mono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6091" y="192024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6091" y="1920240"/>
            <a:ext cx="1572768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0E1320"/>
                </a:solidFill>
                <a:latin typeface="JetBrains Mono"/>
              </a:rPr>
              <a:t>SOLANA CON</a:t>
            </a:r>
          </a:p>
          <a:p>
            <a:pPr algn="ctr"/>
            <a:r>
              <a:rPr sz="1300" b="1">
                <a:solidFill>
                  <a:srgbClr val="0E1320"/>
                </a:solidFill>
                <a:latin typeface="JetBrains Mono"/>
              </a:rPr>
              <a:t>FUNCIÓN REAL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8859" y="1920240"/>
            <a:ext cx="27066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5E04A"/>
                </a:solidFill>
                <a:latin typeface="JetBrains Mono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59521" y="192024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59521" y="1920240"/>
            <a:ext cx="1572768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DEMO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FUNCIONAL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32289" y="1920240"/>
            <a:ext cx="27066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5E04A"/>
                </a:solidFill>
                <a:latin typeface="JetBrains Mono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1920240"/>
            <a:ext cx="1572768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902952" y="1920240"/>
            <a:ext cx="1572768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PRÓXIMO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JetBrains Mono"/>
              </a:rPr>
              <a:t>PASO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4290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spc="300">
                <a:solidFill>
                  <a:srgbClr val="8B8FE8"/>
                </a:solidFill>
                <a:latin typeface="JetBrains Mono"/>
              </a:rPr>
              <a:t>LA AGENDA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813048"/>
            <a:ext cx="1798320" cy="475488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3813048"/>
            <a:ext cx="179832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/>
            </a:r>
            <a:r>
              <a:rPr sz="1400" b="1">
                <a:solidFill>
                  <a:srgbClr val="F5E04A"/>
                </a:solidFill>
                <a:latin typeface="JetBrains Mono"/>
              </a:rPr>
              <a:t>1 </a:t>
            </a:r>
            <a:r>
              <a:rPr sz="1400" b="0">
                <a:solidFill>
                  <a:srgbClr val="FFFFFF"/>
                </a:solidFill>
                <a:latin typeface="JetBrains Mono"/>
              </a:rPr>
              <a:t>Intro breve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12136" y="3813048"/>
            <a:ext cx="2225040" cy="475488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12136" y="3813048"/>
            <a:ext cx="222504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/>
            </a:r>
            <a:r>
              <a:rPr sz="1400" b="1">
                <a:solidFill>
                  <a:srgbClr val="F5E04A"/>
                </a:solidFill>
                <a:latin typeface="JetBrains Mono"/>
              </a:rPr>
              <a:t>2 </a:t>
            </a:r>
            <a:r>
              <a:rPr sz="1400" b="0">
                <a:solidFill>
                  <a:srgbClr val="FFFFFF"/>
                </a:solidFill>
                <a:latin typeface="JetBrains Mono"/>
              </a:rPr>
              <a:t>Ideas y equipos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65192" y="3813048"/>
            <a:ext cx="3078480" cy="475488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65192" y="3813048"/>
            <a:ext cx="307848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/>
            </a:r>
            <a:r>
              <a:rPr sz="1400" b="1">
                <a:solidFill>
                  <a:srgbClr val="F5E04A"/>
                </a:solidFill>
                <a:latin typeface="JetBrains Mono"/>
              </a:rPr>
              <a:t>3 </a:t>
            </a:r>
            <a:r>
              <a:rPr sz="1400" b="0">
                <a:solidFill>
                  <a:srgbClr val="FFFFFF"/>
                </a:solidFill>
                <a:latin typeface="JetBrains Mono"/>
              </a:rPr>
              <a:t>Bloques de construcción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71688" y="3813048"/>
            <a:ext cx="1478280" cy="475488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171688" y="3813048"/>
            <a:ext cx="147828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/>
            </a:r>
            <a:r>
              <a:rPr sz="1400" b="1">
                <a:solidFill>
                  <a:srgbClr val="F5E04A"/>
                </a:solidFill>
                <a:latin typeface="JetBrains Mono"/>
              </a:rPr>
              <a:t>4 </a:t>
            </a:r>
            <a:r>
              <a:rPr sz="1400" b="0">
                <a:solidFill>
                  <a:srgbClr val="FFFFFF"/>
                </a:solidFill>
                <a:latin typeface="JetBrains Mono"/>
              </a:rPr>
              <a:t>Mentoría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416552"/>
            <a:ext cx="1798320" cy="475488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416552"/>
            <a:ext cx="179832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/>
            </a:r>
            <a:r>
              <a:rPr sz="1400" b="1">
                <a:solidFill>
                  <a:srgbClr val="F5E04A"/>
                </a:solidFill>
                <a:latin typeface="JetBrains Mono"/>
              </a:rPr>
              <a:t>5 </a:t>
            </a:r>
            <a:r>
              <a:rPr sz="1400" b="0">
                <a:solidFill>
                  <a:srgbClr val="FFFFFF"/>
                </a:solidFill>
                <a:latin typeface="JetBrains Mono"/>
              </a:rPr>
              <a:t>Checkpoints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12136" y="4416552"/>
            <a:ext cx="1158240" cy="475488"/>
          </a:xfrm>
          <a:prstGeom prst="roundRect">
            <a:avLst>
              <a:gd name="adj" fmla="val 5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612136" y="4416552"/>
            <a:ext cx="1158240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FFFFFF"/>
                </a:solidFill>
                <a:latin typeface="JetBrains Mono"/>
              </a:rPr>
              <a:t/>
            </a:r>
            <a:r>
              <a:rPr sz="1400" b="1">
                <a:solidFill>
                  <a:srgbClr val="F5E04A"/>
                </a:solidFill>
                <a:latin typeface="JetBrains Mono"/>
              </a:rPr>
              <a:t>6 </a:t>
            </a:r>
            <a:r>
              <a:rPr sz="1400" b="0">
                <a:solidFill>
                  <a:srgbClr val="FFFFFF"/>
                </a:solidFill>
                <a:latin typeface="JetBrains Mono"/>
              </a:rPr>
              <a:t>Demos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07492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60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600" b="1">
                <a:solidFill>
                  <a:srgbClr val="FFFFFF"/>
                </a:solidFill>
                <a:latin typeface="JetBrains Mono"/>
              </a:rPr>
              <a:t>Presencial, práctica y extendida: </a:t>
            </a:r>
            <a:r>
              <a:rPr sz="1600" b="0">
                <a:solidFill>
                  <a:srgbClr val="C9CEE0"/>
                </a:solidFill>
                <a:latin typeface="JetBrains Mono"/>
              </a:rPr>
              <a:t>la mayor parte del tiempo es para construir.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60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600" b="1">
                <a:solidFill>
                  <a:srgbClr val="FFFFFF"/>
                </a:solidFill>
                <a:latin typeface="JetBrains Mono"/>
              </a:rPr>
              <a:t>No necesitás </a:t>
            </a:r>
            <a:r>
              <a:rPr sz="1600" b="0">
                <a:solidFill>
                  <a:srgbClr val="C9CEE0"/>
                </a:solidFill>
                <a:latin typeface="JetBrains Mono"/>
              </a:rPr>
              <a:t>experiencia previa en Solana, ni equipo armado, ni ser developer.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06 · REGLAS DEL JUEGO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REGLAS DEL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07/15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330952" cy="1207008"/>
          </a:xfrm>
          <a:prstGeom prst="roundRect">
            <a:avLst>
              <a:gd name="adj" fmla="val 909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11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E04A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4187952" cy="93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JetBrains Mono"/>
              </a:rPr>
              <a:t>RESEARCH GATE PRIMERO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Ningún equipo arranca el MVP sin completar la página de investigación.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828800"/>
            <a:ext cx="5330952" cy="1207008"/>
          </a:xfrm>
          <a:prstGeom prst="roundRect">
            <a:avLst>
              <a:gd name="adj" fmla="val 909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45936" y="201168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E04A"/>
                </a:solidFill>
                <a:latin typeface="JetBrains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4888" y="2011680"/>
            <a:ext cx="4187952" cy="93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JetBrains Mono"/>
              </a:rPr>
              <a:t>IA SÍ, CAJA NEGRA NO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Usar IA está bien; entregar código que nadie del equipo entiende, 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82112"/>
            <a:ext cx="5330952" cy="1207008"/>
          </a:xfrm>
          <a:prstGeom prst="roundRect">
            <a:avLst>
              <a:gd name="adj" fmla="val 909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36499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E04A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364992"/>
            <a:ext cx="4187952" cy="93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JetBrains Mono"/>
              </a:rPr>
              <a:t>AGENTE DE IA PARA TODOS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Todos los perfiles trabajan con uno. Mínimo: ChatGPT Free o equivalente.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3182112"/>
            <a:ext cx="5330952" cy="1207008"/>
          </a:xfrm>
          <a:prstGeom prst="roundRect">
            <a:avLst>
              <a:gd name="adj" fmla="val 909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45936" y="3364992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E04A"/>
                </a:solidFill>
                <a:latin typeface="JetBrain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3364992"/>
            <a:ext cx="4187952" cy="93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JetBrains Mono"/>
              </a:rPr>
              <a:t>CUENTA DE COLOSSEUM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Para seguir a la competencia global, cada integrante con su propia cuenta.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535424"/>
            <a:ext cx="5330952" cy="1207008"/>
          </a:xfrm>
          <a:prstGeom prst="roundRect">
            <a:avLst>
              <a:gd name="adj" fmla="val 909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471830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E04A"/>
                </a:solidFill>
                <a:latin typeface="JetBrains Mon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718304"/>
            <a:ext cx="4187952" cy="93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JetBrains Mono"/>
              </a:rPr>
              <a:t>DEVNET Y SEGURIDAD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Wallets de desarrollo, nada de fondos reales. Nunca compartas tu seed phrase.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4535424"/>
            <a:ext cx="5330952" cy="1207008"/>
          </a:xfrm>
          <a:prstGeom prst="roundRect">
            <a:avLst>
              <a:gd name="adj" fmla="val 909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45936" y="4718304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600" b="1">
                <a:solidFill>
                  <a:srgbClr val="F5E04A"/>
                </a:solidFill>
                <a:latin typeface="JetBrains Mon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04888" y="4718304"/>
            <a:ext cx="4187952" cy="9326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JetBrains Mono"/>
              </a:rPr>
              <a:t>ROLES MÍNIMOS</a:t>
            </a:r>
          </a:p>
          <a:p>
            <a:pPr algn="l">
              <a:lnSpc>
                <a:spcPct val="108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Alguien a cargo del repo, del scope/ producto y de la demo.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8B8FE8"/>
                </a:solidFill>
                <a:latin typeface="JetBrains Mono"/>
              </a:rPr>
              <a:t>Registro en Colosseum: arena.colosseum.org  ·  Usá Git desde el comienzo y commiteá seguido.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07 · OBLIGATORIO ANTES DE ESCRIBIR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RESEARCH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08/15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2" y="182880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01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Problema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2880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136392" y="182880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02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Usuario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82880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22392" y="182880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03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Solución actual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65176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265176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04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Competidores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65176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136392" y="265176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05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Qué ya existe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265176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22392" y="265176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06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47472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50392" y="347472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07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Diferenciación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47472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136392" y="347472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08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Rol de Solana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57800" y="347472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422392" y="347472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09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MVP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297680"/>
            <a:ext cx="2176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0392" y="4297680"/>
            <a:ext cx="1947672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200" b="1">
                <a:solidFill>
                  <a:srgbClr val="F5E04A"/>
                </a:solidFill>
                <a:latin typeface="JetBrains Mono"/>
              </a:rPr>
              <a:t>10 </a:t>
            </a:r>
            <a:r>
              <a:rPr sz="1200" b="1">
                <a:solidFill>
                  <a:srgbClr val="FFFFFF"/>
                </a:solidFill>
                <a:latin typeface="JetBrains Mono"/>
              </a:rPr>
              <a:t>Evidencia/fuentes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4297680"/>
            <a:ext cx="4462272" cy="713232"/>
          </a:xfrm>
          <a:prstGeom prst="roundRect">
            <a:avLst>
              <a:gd name="adj" fmla="val 1282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136392" y="4297680"/>
            <a:ext cx="4123944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0">
                <a:solidFill>
                  <a:srgbClr val="FFFFFF"/>
                </a:solidFill>
                <a:latin typeface="JetBrains Mono"/>
              </a:rPr>
              <a:t/>
            </a:r>
            <a:r>
              <a:rPr sz="1300" b="1">
                <a:solidFill>
                  <a:srgbClr val="F5E04A"/>
                </a:solidFill>
                <a:latin typeface="JetBrains Mono"/>
              </a:rPr>
              <a:t>11 </a:t>
            </a:r>
            <a:r>
              <a:rPr sz="1300" b="1">
                <a:solidFill>
                  <a:srgbClr val="FFFFFF"/>
                </a:solidFill>
                <a:latin typeface="JetBrains Mono"/>
              </a:rPr>
              <a:t>Decisión</a:t>
            </a:r>
            <a:r>
              <a:rPr sz="1100" b="0">
                <a:solidFill>
                  <a:srgbClr val="8B8FE8"/>
                </a:solidFill>
                <a:latin typeface="JetBrains Mono"/>
              </a:rPr>
              <a:t>  construir · pivotear · descartar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53527" y="1828800"/>
            <a:ext cx="3822191" cy="1417320"/>
          </a:xfrm>
          <a:prstGeom prst="roundRect">
            <a:avLst>
              <a:gd name="adj" fmla="val 774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854696" y="2029968"/>
            <a:ext cx="3419856" cy="10149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B8FE8"/>
                </a:solidFill>
                <a:latin typeface="JetBrains Mono"/>
              </a:rPr>
              <a:t>DÓNDE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Un RESEARCH.md en el repo o una página de documento.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53527" y="3355848"/>
            <a:ext cx="3822191" cy="1417320"/>
          </a:xfrm>
          <a:prstGeom prst="roundRect">
            <a:avLst>
              <a:gd name="adj" fmla="val 774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854696" y="3557016"/>
            <a:ext cx="3419856" cy="10149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B8FE8"/>
                </a:solidFill>
                <a:latin typeface="JetBrains Mono"/>
              </a:rPr>
              <a:t>CON QUÉ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Tu agente de IA, Colosseum Copilot, Superteam Stack, web y charlas con usuarios.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257800"/>
            <a:ext cx="10789920" cy="868680"/>
          </a:xfrm>
          <a:prstGeom prst="roundRect">
            <a:avLst>
              <a:gd name="adj" fmla="val 16842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60120" y="5257800"/>
            <a:ext cx="10332720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500" b="0">
                <a:solidFill>
                  <a:srgbClr val="0E1320"/>
                </a:solidFill>
                <a:latin typeface="JetBrains Mono"/>
              </a:rPr>
              <a:t/>
            </a:r>
            <a:r>
              <a:rPr sz="1300" b="1" spc="150">
                <a:solidFill>
                  <a:srgbClr val="0E1320"/>
                </a:solidFill>
                <a:latin typeface="JetBrains Mono"/>
              </a:rPr>
              <a:t>CRITERIO DE SALIDA  </a:t>
            </a:r>
            <a:r>
              <a:rPr sz="1500" b="1">
                <a:solidFill>
                  <a:srgbClr val="0E1320"/>
                </a:solidFill>
                <a:latin typeface="JetBrains Mono"/>
              </a:rPr>
              <a:t>cualquier integrante lo explica en menos de 2 minutos.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08 · ENTREGABLES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AL FINAL DEL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09/15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0">
                <a:solidFill>
                  <a:srgbClr val="C9CEE0"/>
                </a:solidFill>
                <a:latin typeface="JetBrains Mono"/>
              </a:rPr>
              <a:t>Esto es lo que tiene que existir: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5800" y="22677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79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Nombre del proyecto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62656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85800" y="29626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35224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Problema definido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657600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30168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Usuario concreto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52544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5800" y="4352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2511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Equipo o responsables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47488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5800" y="50474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0055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Repo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2267712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22677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240279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MVP o prototipo funcional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2962656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114800" y="296265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935224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Integración con Solana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que puedan explicar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3657600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14800" y="3657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3630168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Demo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4352544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114800" y="435254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32511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Evidencia o feedback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114800" y="5047488"/>
            <a:ext cx="329184" cy="329184"/>
          </a:xfrm>
          <a:prstGeom prst="roundRect">
            <a:avLst>
              <a:gd name="adj" fmla="val 16666"/>
            </a:avLst>
          </a:prstGeom>
          <a:noFill/>
          <a:ln w="19050">
            <a:solidFill>
              <a:srgbClr val="F5E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114800" y="50474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1">
                <a:solidFill>
                  <a:srgbClr val="F5E04A"/>
                </a:solidFill>
                <a:latin typeface="JetBrains Mono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5020055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Próximo paso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FFFFFF"/>
                </a:solidFill>
                <a:latin typeface="JetBrains Mono"/>
              </a:rPr>
              <a:t>después del sábado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26679" y="1874519"/>
            <a:ext cx="3749039" cy="1325880"/>
          </a:xfrm>
          <a:prstGeom prst="roundRect">
            <a:avLst>
              <a:gd name="adj" fmla="val 11034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001000" y="2020824"/>
            <a:ext cx="3291839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400" b="1" spc="150">
                <a:solidFill>
                  <a:srgbClr val="0E1320"/>
                </a:solidFill>
                <a:latin typeface="JetBrains Mono"/>
              </a:rPr>
              <a:t>TRACK LOCAL</a:t>
            </a:r>
          </a:p>
          <a:p>
            <a:pPr algn="l"/>
            <a:r>
              <a:rPr sz="3400" b="1">
                <a:solidFill>
                  <a:srgbClr val="0E1320"/>
                </a:solidFill>
                <a:latin typeface="JetBrains Mono"/>
              </a:rPr>
              <a:t>10.000 USD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26679" y="3383280"/>
            <a:ext cx="3749039" cy="2057400"/>
          </a:xfrm>
          <a:prstGeom prst="roundRect">
            <a:avLst>
              <a:gd name="adj" fmla="val 533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927848" y="3584448"/>
            <a:ext cx="3346703" cy="1655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B8FE8"/>
                </a:solidFill>
                <a:latin typeface="JetBrains Mono"/>
              </a:rPr>
              <a:t>ROAD TO COLOSSEUM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El proyecto puede seguir hacia la competencia global de Colosseum (cuenta personal por integrante).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76072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B8FE8"/>
                </a:solidFill>
                <a:latin typeface="JetBrains Mono"/>
              </a:rPr>
              <a:t>Una idea chica, funcional y demostrable vale más que una plataforma enorme que no llega a correr.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09 ·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¿QUÉ PUEDEN CONSTRUIR?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10/15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29968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CHECKOUT USDC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Cobra en USDC, verifica el pago y confirma una compra o reserva.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21024" y="2029968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AGENTES DE IA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Preparan o ejecutan operaciones económicas bajo reglas definidas.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5080" y="2029968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CREDENCIALES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Credenciales o membresías verificables.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87968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089136" y="2029968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APPS DE CONSUMO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Micropagos o activos que el usuario realmente controla.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4023359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SPLIT DE PAGOS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Dividir pagos o liquidar dinero entre varias partes.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9856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21024" y="4023359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DEV TOOLS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Herramientas para construir, testear o depurar sobre Solana.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55080" y="4023359"/>
            <a:ext cx="2185416" cy="1426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GAMING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C9CEE0"/>
                </a:solidFill>
                <a:latin typeface="JetBrains Mono"/>
              </a:rPr>
              <a:t>Propiedad o economía del juego con una función real.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89136" y="4023359"/>
            <a:ext cx="2221992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1320"/>
                </a:solidFill>
                <a:latin typeface="JetBrains Mono"/>
              </a:rPr>
              <a:t>TU IDEA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0E1320"/>
                </a:solidFill>
                <a:latin typeface="JetBrains Mono"/>
              </a:rPr>
              <a:t>Problema real +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0E1320"/>
                </a:solidFill>
                <a:latin typeface="JetBrains Mono"/>
              </a:rPr>
              <a:t>usuario concreto +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0E1320"/>
                </a:solidFill>
                <a:latin typeface="JetBrains Mono"/>
              </a:rPr>
              <a:t>Solana que sume</a:t>
            </a:r>
          </a:p>
          <a:p>
            <a:pPr algn="l">
              <a:lnSpc>
                <a:spcPct val="110000"/>
              </a:lnSpc>
            </a:pPr>
            <a:r>
              <a:rPr sz="1250" b="1">
                <a:solidFill>
                  <a:srgbClr val="0E1320"/>
                </a:solidFill>
                <a:latin typeface="JetBrains Mono"/>
              </a:rPr>
              <a:t>algo de verdad.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8B8FE8"/>
                </a:solidFill>
                <a:latin typeface="JetBrains Mono"/>
              </a:rPr>
              <a:t>Ejemplos de la guía del evento: tomalos como punto de partida, no como lista cerrada.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10 ·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ELEGÍ TU RUTA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11/15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197510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2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DEVELOPER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163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Frontend, backend, programas onchain. Repo y demo que corra.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21024" y="197510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450592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AI BUILDER / VIBECODER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8163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Requerimientos → features, iterando con agentes.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55080" y="197510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450592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PRIMER HACKATHON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8163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Testing, docs, research, contenido y partes simples.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7968" y="1828800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9136" y="197510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2450592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PRODUCTO / FOUNDER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816352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Usuario, propuesta de valor, MVP y scope. No construir de más.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86968" y="396849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4443983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DISEÑO / 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809744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Flujo principal, menos fricción blockchain, prototipo.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9856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621024" y="396849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1024" y="4443983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GROWTH / VENTAS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1024" y="4809744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Validar problema y mensaje, testers y pitch con evidencia.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53912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55080" y="396849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400" b="1">
                <a:solidFill>
                  <a:srgbClr val="F5E04A"/>
                </a:solidFill>
                <a:latin typeface="JetBrains Mono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443983"/>
            <a:ext cx="22219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JetBrains Mono"/>
              </a:rPr>
              <a:t>YA TENGO PROYECTO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809744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Funcionalidad real, integrar Solana, feedback y demo.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822191"/>
            <a:ext cx="2587752" cy="1828800"/>
          </a:xfrm>
          <a:prstGeom prst="roundRect">
            <a:avLst>
              <a:gd name="adj" fmla="val 6000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089136" y="4005072"/>
            <a:ext cx="2221992" cy="1508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1320"/>
                </a:solidFill>
                <a:latin typeface="JetBrains Mono"/>
              </a:rPr>
              <a:t>PITCH 30–60 s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1320"/>
                </a:solidFill>
                <a:latin typeface="JetBrains Mono"/>
              </a:rPr>
              <a:t>“Veo este problema /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1320"/>
                </a:solidFill>
                <a:latin typeface="JetBrains Mono"/>
              </a:rPr>
              <a:t>afecta a esta persona /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1320"/>
                </a:solidFill>
                <a:latin typeface="JetBrains Mono"/>
              </a:rPr>
              <a:t>quiero probar esta</a:t>
            </a:r>
          </a:p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1320"/>
                </a:solidFill>
                <a:latin typeface="JetBrains Mono"/>
              </a:rPr>
              <a:t>solución.”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8B8FE8"/>
                </a:solidFill>
                <a:latin typeface="JetBrains Mono"/>
              </a:rPr>
              <a:t>Podés tener habilidades de varias rutas: elegí una principal. Si faltan perfiles, hay mentores.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11 · HERRAMIENTAS PARA CONSTRUIR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STACK SOLANA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12/15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spc="300">
                <a:solidFill>
                  <a:srgbClr val="8B8FE8"/>
                </a:solidFill>
                <a:latin typeface="JetBrains Mono"/>
              </a:rPr>
              <a:t>SEGÚN TU NIVEL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5989320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5623559" cy="731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SOLANA PLAYGROUND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En el navegador: escribí, desplegá y probá programas sin instalar nada. Ideal para arrancar.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355848"/>
            <a:ext cx="5989320" cy="1097280"/>
          </a:xfrm>
          <a:prstGeom prst="roundRect">
            <a:avLst>
              <a:gd name="adj" fmla="val 1000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3538728"/>
            <a:ext cx="5623559" cy="731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SETUP LOCAL (INSTALADOR OFICIAL)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Rust, Solana CLI, Anchor CLI, Surfpool, Node.js y Yarn. macOS, Linux o Windows vía WSL.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562856"/>
            <a:ext cx="5989320" cy="1188720"/>
          </a:xfrm>
          <a:prstGeom prst="roundRect">
            <a:avLst>
              <a:gd name="adj" fmla="val 9230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4745736"/>
            <a:ext cx="5623559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SOLANA DEV SKILL / MCP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C9CEE0"/>
                </a:solidFill>
                <a:latin typeface="JetBrains Mono"/>
              </a:rPr>
              <a:t>Contexto actualizado de Solana para tu agente: npx skills add solana-foundation/solana-dev-skill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83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spc="300">
                <a:solidFill>
                  <a:srgbClr val="8B8FE8"/>
                </a:solidFill>
                <a:latin typeface="JetBrains Mono"/>
              </a:rPr>
              <a:t>COMPLEMENTOS ÚTILES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148840"/>
            <a:ext cx="4572000" cy="3602736"/>
          </a:xfrm>
          <a:prstGeom prst="roundRect">
            <a:avLst>
              <a:gd name="adj" fmla="val 3045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0" y="2359152"/>
            <a:ext cx="4160520" cy="3291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250" b="1">
                <a:solidFill>
                  <a:srgbClr val="FFFFFF"/>
                </a:solidFill>
                <a:latin typeface="JetBrains Mono"/>
              </a:rPr>
              <a:t>Anchor </a:t>
            </a:r>
            <a:r>
              <a:rPr sz="1250" b="0">
                <a:solidFill>
                  <a:srgbClr val="C9CEE0"/>
                </a:solidFill>
                <a:latin typeface="JetBrains Mono"/>
              </a:rPr>
              <a:t>· framework en Rust para programas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250" b="1">
                <a:solidFill>
                  <a:srgbClr val="FFFFFF"/>
                </a:solidFill>
                <a:latin typeface="JetBrains Mono"/>
              </a:rPr>
              <a:t>@solana/kit </a:t>
            </a:r>
            <a:r>
              <a:rPr sz="1250" b="0">
                <a:solidFill>
                  <a:srgbClr val="C9CEE0"/>
                </a:solidFill>
                <a:latin typeface="JetBrains Mono"/>
              </a:rPr>
              <a:t>· SDK JS/TS (sucesor de web3.js)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250" b="1">
                <a:solidFill>
                  <a:srgbClr val="FFFFFF"/>
                </a:solidFill>
                <a:latin typeface="JetBrains Mono"/>
              </a:rPr>
              <a:t>Wallet Adapter </a:t>
            </a:r>
            <a:r>
              <a:rPr sz="1250" b="0">
                <a:solidFill>
                  <a:srgbClr val="C9CEE0"/>
                </a:solidFill>
                <a:latin typeface="JetBrains Mono"/>
              </a:rPr>
              <a:t>· conectar Phantom, Solflare…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250" b="1">
                <a:solidFill>
                  <a:srgbClr val="FFFFFF"/>
                </a:solidFill>
                <a:latin typeface="JetBrains Mono"/>
              </a:rPr>
              <a:t>create-solana-dapp </a:t>
            </a:r>
            <a:r>
              <a:rPr sz="1250" b="0">
                <a:solidFill>
                  <a:srgbClr val="C9CEE0"/>
                </a:solidFill>
                <a:latin typeface="JetBrains Mono"/>
              </a:rPr>
              <a:t>· scaffold de una dApp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250" b="1">
                <a:solidFill>
                  <a:srgbClr val="FFFFFF"/>
                </a:solidFill>
                <a:latin typeface="JetBrains Mono"/>
              </a:rPr>
              <a:t>RPCs </a:t>
            </a:r>
            <a:r>
              <a:rPr sz="1250" b="0">
                <a:solidFill>
                  <a:srgbClr val="C9CEE0"/>
                </a:solidFill>
                <a:latin typeface="JetBrains Mono"/>
              </a:rPr>
              <a:t>· endpoint público de devnet o proveedores como Helius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250" b="1">
                <a:solidFill>
                  <a:srgbClr val="FFFFFF"/>
                </a:solidFill>
                <a:latin typeface="JetBrains Mono"/>
              </a:rPr>
              <a:t>Faucet </a:t>
            </a:r>
            <a:r>
              <a:rPr sz="1250" b="0">
                <a:solidFill>
                  <a:srgbClr val="C9CEE0"/>
                </a:solidFill>
                <a:latin typeface="JetBrains Mono"/>
              </a:rPr>
              <a:t>· SOL de prueba en faucet.solana.com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>
                <a:solidFill>
                  <a:srgbClr val="8B8FE8"/>
                </a:solidFill>
                <a:latin typeface="JetBrains Mono"/>
              </a:rPr>
              <a:t>Arrancá por el Quick Start oficial: solana.com/docs/intro/quick-start  ·  Siempre en devnet.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12 · KIT DE CONSTRUCCIÓN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IA + INVESTIGACIÓN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13/15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330952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05256" y="2002536"/>
            <a:ext cx="4892040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SUPERTEAM ARGENTINA STACK</a:t>
            </a:r>
          </a:p>
          <a:p>
            <a:pPr algn="l">
              <a:lnSpc>
                <a:spcPct val="110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superteam.ar/stack · manual de referencia: ¿necesita Web3?, devnet, RPC, wallets, testing, seguridad. Dale SOLANA-RULES.md a tu agente como contexto del repo.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783080"/>
            <a:ext cx="5330952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64224" y="2002536"/>
            <a:ext cx="4892040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COLOSSEUM COPILOT</a:t>
            </a:r>
          </a:p>
          <a:p>
            <a:pPr algn="l">
              <a:lnSpc>
                <a:spcPct val="110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Investigá proyectos previos, competidores y gaps ANTES de cerrar el MVP. npx skills add ColosseumOrg/colosseum-copilot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5330952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05256" y="3922776"/>
            <a:ext cx="4892040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TU AGENTE DE IA</a:t>
            </a:r>
          </a:p>
          <a:p>
            <a:pPr algn="l">
              <a:lnSpc>
                <a:spcPct val="110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Mínimo: ChatGPT Free. Ruta técnica gratis: GitHub Copilot Free + OpenCode, con NVIDIA NIM de respaldo. ¿Ya pagás ChatGPT, Claude u otro? Usá ese.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703320"/>
            <a:ext cx="5330952" cy="1783080"/>
          </a:xfrm>
          <a:prstGeom prst="roundRect">
            <a:avLst>
              <a:gd name="adj" fmla="val 6153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64224" y="3922776"/>
            <a:ext cx="4892040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5E04A"/>
                </a:solidFill>
                <a:latin typeface="JetBrains Mono"/>
              </a:rPr>
              <a:t>TELEGRAM SUPERTEAM AR</a:t>
            </a:r>
          </a:p>
          <a:p>
            <a:pPr algn="l">
              <a:lnSpc>
                <a:spcPct val="110000"/>
              </a:lnSpc>
            </a:pPr>
            <a:r>
              <a:rPr sz="1350" b="0">
                <a:solidFill>
                  <a:srgbClr val="C9CEE0"/>
                </a:solidFill>
                <a:latin typeface="JetBrains Mono"/>
              </a:rPr>
              <a:t>t.me/superteamar · soporte humano y comunidad: si tu agente o la doc no te destraban, preguntá ahí.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596128"/>
            <a:ext cx="10789920" cy="566928"/>
          </a:xfrm>
          <a:prstGeom prst="roundRect">
            <a:avLst>
              <a:gd name="adj" fmla="val 19354"/>
            </a:avLst>
          </a:prstGeom>
          <a:noFill/>
          <a:ln w="12700">
            <a:solidFill>
              <a:srgbClr val="8B8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" y="5596128"/>
            <a:ext cx="103327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400" b="0">
                <a:solidFill>
                  <a:srgbClr val="C9CEE0"/>
                </a:solidFill>
                <a:latin typeface="JetBrains Mono"/>
              </a:rPr>
              <a:t/>
            </a:r>
            <a:r>
              <a:rPr sz="1400" b="1">
                <a:solidFill>
                  <a:srgbClr val="FFFFFF"/>
                </a:solidFill>
                <a:latin typeface="JetBrains Mono"/>
              </a:rPr>
              <a:t>IA para acelerar · </a:t>
            </a:r>
            <a:r>
              <a:rPr sz="1400" b="1">
                <a:solidFill>
                  <a:srgbClr val="8B8FE8"/>
                </a:solidFill>
                <a:latin typeface="JetBrains Mono"/>
              </a:rPr>
              <a:t>fuentes para verificar · </a:t>
            </a:r>
            <a:r>
              <a:rPr sz="1400" b="1">
                <a:solidFill>
                  <a:srgbClr val="F5E04A"/>
                </a:solidFill>
                <a:latin typeface="JetBrains Mono"/>
              </a:rPr>
              <a:t>comunidad para desbloquear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spc="400">
                <a:solidFill>
                  <a:srgbClr val="8B8FE8"/>
                </a:solidFill>
                <a:latin typeface="JetBrains Mono"/>
              </a:rPr>
              <a:t>13 ·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9611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JetBrains Mono"/>
              </a:rPr>
              <a:t>RECURSOS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2910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spc="200">
                <a:solidFill>
                  <a:srgbClr val="6A7294"/>
                </a:solidFill>
                <a:latin typeface="JetBrains Mono"/>
              </a:rPr>
              <a:t>ROAD TO COLOSSEUM · SUPERTEAM ARGENTINA HACKATHON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88752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900" b="0" spc="200">
                <a:solidFill>
                  <a:srgbClr val="6A7294"/>
                </a:solidFill>
                <a:latin typeface="JetBrains Mono"/>
              </a:rPr>
              <a:t>14/15</a:t>
            </a:r>
          </a:p>
        </p:txBody>
      </p:sp>
      <p:sp>
        <p:nvSpPr>
          <p:cNvPr id="7" name="Rounded Rectangle 6">
            <a:hlinkClick r:id="rId3"/>
          </p:cNvPr>
          <p:cNvSpPr/>
          <p:nvPr/>
        </p:nvSpPr>
        <p:spPr>
          <a:xfrm>
            <a:off x="685800" y="1810512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>
            <a:hlinkClick r:id="rId3"/>
          </p:cNvPr>
          <p:cNvSpPr txBox="1"/>
          <p:nvPr/>
        </p:nvSpPr>
        <p:spPr>
          <a:xfrm>
            <a:off x="886968" y="181051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ROAD TO COLOSSEUM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superteam.ar/colosseum</a:t>
            </a:r>
          </a:p>
        </p:txBody>
      </p:sp>
      <p:sp>
        <p:nvSpPr>
          <p:cNvPr id="9" name="Rounded Rectangle 8">
            <a:hlinkClick r:id="rId4"/>
          </p:cNvPr>
          <p:cNvSpPr/>
          <p:nvPr/>
        </p:nvSpPr>
        <p:spPr>
          <a:xfrm>
            <a:off x="685800" y="2505456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>
            <a:hlinkClick r:id="rId4"/>
          </p:cNvPr>
          <p:cNvSpPr txBox="1"/>
          <p:nvPr/>
        </p:nvSpPr>
        <p:spPr>
          <a:xfrm>
            <a:off x="886968" y="2505456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COLOSSEUM (REGISTRO)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arena.colosseum.org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685800" y="3200400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>
            <a:hlinkClick r:id="rId5"/>
          </p:cNvPr>
          <p:cNvSpPr txBox="1"/>
          <p:nvPr/>
        </p:nvSpPr>
        <p:spPr>
          <a:xfrm>
            <a:off x="886968" y="3200400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PROYECTOS PREVIOS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colosseum.com/arena/projects/explore</a:t>
            </a:r>
          </a:p>
        </p:txBody>
      </p:sp>
      <p:sp>
        <p:nvSpPr>
          <p:cNvPr id="13" name="Rounded Rectangle 12">
            <a:hlinkClick r:id="rId6"/>
          </p:cNvPr>
          <p:cNvSpPr/>
          <p:nvPr/>
        </p:nvSpPr>
        <p:spPr>
          <a:xfrm>
            <a:off x="685800" y="3895344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>
            <a:hlinkClick r:id="rId6"/>
          </p:cNvPr>
          <p:cNvSpPr txBox="1"/>
          <p:nvPr/>
        </p:nvSpPr>
        <p:spPr>
          <a:xfrm>
            <a:off x="886968" y="3895344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COLOSSEUM COPILOT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colosseum.com/copilot</a:t>
            </a:r>
          </a:p>
        </p:txBody>
      </p:sp>
      <p:sp>
        <p:nvSpPr>
          <p:cNvPr id="15" name="Rounded Rectangle 14">
            <a:hlinkClick r:id="rId7"/>
          </p:cNvPr>
          <p:cNvSpPr/>
          <p:nvPr/>
        </p:nvSpPr>
        <p:spPr>
          <a:xfrm>
            <a:off x="685800" y="4590288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>
            <a:hlinkClick r:id="rId7"/>
          </p:cNvPr>
          <p:cNvSpPr txBox="1"/>
          <p:nvPr/>
        </p:nvSpPr>
        <p:spPr>
          <a:xfrm>
            <a:off x="886968" y="459028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SUPERTEAM AR STACK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superteam.ar/stack</a:t>
            </a:r>
          </a:p>
        </p:txBody>
      </p:sp>
      <p:sp>
        <p:nvSpPr>
          <p:cNvPr id="17" name="Rounded Rectangle 16">
            <a:hlinkClick r:id="rId8"/>
          </p:cNvPr>
          <p:cNvSpPr/>
          <p:nvPr/>
        </p:nvSpPr>
        <p:spPr>
          <a:xfrm>
            <a:off x="685800" y="5285231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>
            <a:hlinkClick r:id="rId8"/>
          </p:cNvPr>
          <p:cNvSpPr txBox="1"/>
          <p:nvPr/>
        </p:nvSpPr>
        <p:spPr>
          <a:xfrm>
            <a:off x="886968" y="5285231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TELEGRAM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t.me/superteamar</a:t>
            </a:r>
          </a:p>
        </p:txBody>
      </p:sp>
      <p:sp>
        <p:nvSpPr>
          <p:cNvPr id="19" name="Rounded Rectangle 18">
            <a:hlinkClick r:id="rId9"/>
          </p:cNvPr>
          <p:cNvSpPr/>
          <p:nvPr/>
        </p:nvSpPr>
        <p:spPr>
          <a:xfrm>
            <a:off x="6144768" y="1810512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>
            <a:hlinkClick r:id="rId9"/>
          </p:cNvPr>
          <p:cNvSpPr txBox="1"/>
          <p:nvPr/>
        </p:nvSpPr>
        <p:spPr>
          <a:xfrm>
            <a:off x="6345936" y="1810512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SOLANA DOCS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solana.com/docs</a:t>
            </a:r>
          </a:p>
        </p:txBody>
      </p:sp>
      <p:sp>
        <p:nvSpPr>
          <p:cNvPr id="21" name="Rounded Rectangle 20">
            <a:hlinkClick r:id="rId10"/>
          </p:cNvPr>
          <p:cNvSpPr/>
          <p:nvPr/>
        </p:nvSpPr>
        <p:spPr>
          <a:xfrm>
            <a:off x="6144768" y="2505456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>
            <a:hlinkClick r:id="rId10"/>
          </p:cNvPr>
          <p:cNvSpPr txBox="1"/>
          <p:nvPr/>
        </p:nvSpPr>
        <p:spPr>
          <a:xfrm>
            <a:off x="6345936" y="2505456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QUICK START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solana.com/docs/intro/quick-start</a:t>
            </a:r>
          </a:p>
        </p:txBody>
      </p:sp>
      <p:sp>
        <p:nvSpPr>
          <p:cNvPr id="23" name="Rounded Rectangle 22">
            <a:hlinkClick r:id="rId11"/>
          </p:cNvPr>
          <p:cNvSpPr/>
          <p:nvPr/>
        </p:nvSpPr>
        <p:spPr>
          <a:xfrm>
            <a:off x="6144768" y="3200400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>
            <a:hlinkClick r:id="rId11"/>
          </p:cNvPr>
          <p:cNvSpPr txBox="1"/>
          <p:nvPr/>
        </p:nvSpPr>
        <p:spPr>
          <a:xfrm>
            <a:off x="6345936" y="3200400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INSTALACIÓN LOCAL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solana.com/docs/intro/installation</a:t>
            </a:r>
          </a:p>
        </p:txBody>
      </p:sp>
      <p:sp>
        <p:nvSpPr>
          <p:cNvPr id="25" name="Rounded Rectangle 24">
            <a:hlinkClick r:id="rId12"/>
          </p:cNvPr>
          <p:cNvSpPr/>
          <p:nvPr/>
        </p:nvSpPr>
        <p:spPr>
          <a:xfrm>
            <a:off x="6144768" y="3895344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>
            <a:hlinkClick r:id="rId12"/>
          </p:cNvPr>
          <p:cNvSpPr txBox="1"/>
          <p:nvPr/>
        </p:nvSpPr>
        <p:spPr>
          <a:xfrm>
            <a:off x="6345936" y="3895344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CODING CON AGENTES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solana.com/docs/intro/coding-with-agents</a:t>
            </a:r>
          </a:p>
        </p:txBody>
      </p:sp>
      <p:sp>
        <p:nvSpPr>
          <p:cNvPr id="27" name="Rounded Rectangle 26">
            <a:hlinkClick r:id="rId13"/>
          </p:cNvPr>
          <p:cNvSpPr/>
          <p:nvPr/>
        </p:nvSpPr>
        <p:spPr>
          <a:xfrm>
            <a:off x="6144768" y="4590288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>
            <a:hlinkClick r:id="rId13"/>
          </p:cNvPr>
          <p:cNvSpPr txBox="1"/>
          <p:nvPr/>
        </p:nvSpPr>
        <p:spPr>
          <a:xfrm>
            <a:off x="6345936" y="4590288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SOLANA DEV SKILL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github.com/solana-foundation/solana-dev-skill</a:t>
            </a:r>
          </a:p>
        </p:txBody>
      </p:sp>
      <p:sp>
        <p:nvSpPr>
          <p:cNvPr id="29" name="Rounded Rectangle 28">
            <a:hlinkClick r:id="rId14"/>
          </p:cNvPr>
          <p:cNvSpPr/>
          <p:nvPr/>
        </p:nvSpPr>
        <p:spPr>
          <a:xfrm>
            <a:off x="6144768" y="5285231"/>
            <a:ext cx="5330952" cy="603504"/>
          </a:xfrm>
          <a:prstGeom prst="roundRect">
            <a:avLst>
              <a:gd name="adj" fmla="val 15151"/>
            </a:avLst>
          </a:prstGeom>
          <a:solidFill>
            <a:srgbClr val="151B2D"/>
          </a:solidFill>
          <a:ln w="12700">
            <a:solidFill>
              <a:srgbClr val="2C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>
            <a:hlinkClick r:id="rId14"/>
          </p:cNvPr>
          <p:cNvSpPr txBox="1"/>
          <p:nvPr/>
        </p:nvSpPr>
        <p:spPr>
          <a:xfrm>
            <a:off x="6345936" y="5285231"/>
            <a:ext cx="498348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spc="150">
                <a:solidFill>
                  <a:srgbClr val="8B8FE8"/>
                </a:solidFill>
                <a:latin typeface="JetBrains Mono"/>
              </a:rPr>
              <a:t>OPENCODE</a:t>
            </a:r>
          </a:p>
          <a:p>
            <a:pPr algn="l"/>
            <a:r>
              <a:rPr sz="1350" b="1">
                <a:solidFill>
                  <a:srgbClr val="FFFFFF"/>
                </a:solidFill>
                <a:latin typeface="JetBrains Mono"/>
              </a:rPr>
              <a:t>opencode.ai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3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914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spc="500">
                <a:solidFill>
                  <a:srgbClr val="8B8FE8"/>
                </a:solidFill>
                <a:latin typeface="JetBrains Mono"/>
              </a:rPr>
              <a:t>ROAD TO COLOSSEUM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7863840" cy="2103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6600" b="1">
                <a:solidFill>
                  <a:srgbClr val="FFFFFF"/>
                </a:solidFill>
                <a:latin typeface="JetBrains Mono"/>
              </a:rPr>
              <a:t>¿PREGUNTAS?</a:t>
            </a:r>
          </a:p>
          <a:p>
            <a:pPr algn="l">
              <a:lnSpc>
                <a:spcPct val="95000"/>
              </a:lnSpc>
            </a:pPr>
            <a:r>
              <a:rPr sz="6600" b="1">
                <a:solidFill>
                  <a:srgbClr val="FFFFFF"/>
                </a:solidFill>
                <a:latin typeface="JetBrains Mono"/>
              </a:rPr>
              <a:t>¡A HACKEAR!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658368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600" b="0">
                <a:solidFill>
                  <a:srgbClr val="C9CEE0"/>
                </a:solidFill>
                <a:latin typeface="JetBrains Mono"/>
              </a:rPr>
              <a:t>Elegí tu ruta y armá equipo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600" b="0">
                <a:solidFill>
                  <a:srgbClr val="C9CEE0"/>
                </a:solidFill>
                <a:latin typeface="JetBrains Mono"/>
              </a:rPr>
              <a:t>Pasá el Research Gate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1">
                <a:solidFill>
                  <a:srgbClr val="F5E04A"/>
                </a:solidFill>
                <a:latin typeface="JetBrains Mono"/>
              </a:rPr>
              <a:t>→ </a:t>
            </a:r>
            <a:r>
              <a:rPr sz="1600" b="0">
                <a:solidFill>
                  <a:srgbClr val="C9CEE0"/>
                </a:solidFill>
                <a:latin typeface="JetBrains Mono"/>
              </a:rPr>
              <a:t>Construí, validá y mostrá la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846320"/>
            <a:ext cx="4937760" cy="1188720"/>
          </a:xfrm>
          <a:prstGeom prst="roundRect">
            <a:avLst>
              <a:gd name="adj" fmla="val 12307"/>
            </a:avLst>
          </a:prstGeom>
          <a:solidFill>
            <a:srgbClr val="F5E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4992624"/>
            <a:ext cx="448056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Aft>
                <a:spcPts val="200"/>
              </a:spcAft>
            </a:pPr>
            <a:r>
              <a:rPr sz="1400" b="1" spc="150">
                <a:solidFill>
                  <a:srgbClr val="0E1320"/>
                </a:solidFill>
                <a:latin typeface="JetBrains Mono"/>
              </a:rPr>
              <a:t>SEGUIMOS EN</a:t>
            </a:r>
          </a:p>
          <a:p>
            <a:pPr algn="l"/>
            <a:r>
              <a:rPr sz="2600" b="1">
                <a:solidFill>
                  <a:srgbClr val="0E1320"/>
                </a:solidFill>
                <a:latin typeface="JetBrains Mono"/>
              </a:rPr>
              <a:t>t.me/superteamar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54406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spc="200">
                <a:solidFill>
                  <a:srgbClr val="8B8FE8"/>
                </a:solidFill>
                <a:latin typeface="JetBrains Mono"/>
              </a:rPr>
              <a:t>AGUSTÍN JUÁREZ</a:t>
            </a:r>
          </a:p>
          <a:p>
            <a:pPr algn="l"/>
            <a:r>
              <a:rPr sz="1200" b="0" spc="200">
                <a:solidFill>
                  <a:srgbClr val="8B8FE8"/>
                </a:solidFill>
                <a:latin typeface="JetBrains Mono"/>
              </a:rPr>
              <a:t>3 OCT 2026</a:t>
            </a:r>
          </a:p>
        </p:txBody>
      </p:sp>
      <p:pic>
        <p:nvPicPr>
          <p:cNvPr id="9" name="Picture 8" descr="ll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7914" y="658368"/>
            <a:ext cx="3833525" cy="5623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